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72" r:id="rId7"/>
    <p:sldId id="259" r:id="rId8"/>
    <p:sldId id="260" r:id="rId9"/>
    <p:sldId id="263" r:id="rId10"/>
    <p:sldId id="274" r:id="rId11"/>
    <p:sldId id="266" r:id="rId12"/>
    <p:sldId id="264" r:id="rId13"/>
    <p:sldId id="277" r:id="rId14"/>
    <p:sldId id="273" r:id="rId15"/>
    <p:sldId id="276" r:id="rId16"/>
    <p:sldId id="268" r:id="rId17"/>
    <p:sldId id="270" r:id="rId18"/>
    <p:sldId id="269" r:id="rId19"/>
    <p:sldId id="271" r:id="rId20"/>
    <p:sldId id="278" r:id="rId2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C8EBE1-BAEF-4F6F-97C1-1CED186C060D}" v="162" dt="2026-03-20T08:42:53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8172B-928A-1E21-CA89-A49A04D40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24D69-0249-2D02-6562-1ADC26376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7C0DE-2819-0DEF-6D30-70069F3B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773EE-09A0-4850-3267-138CFC63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EB1AF-84CC-4D87-8F0F-595701FC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50274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CAC3E-B208-1CE8-9F81-C7F53413A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5EBA3-97FB-DC45-0216-4CA015233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C6C23-0B3E-87E9-8310-48655B0B5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9496B-D804-34D6-F1B6-E93EE97B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32BBF-6B47-5C19-558E-118E1897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98913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2772-E033-561B-B240-FAF04D689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2C04E-E5FB-6D47-BCDB-D86870C7E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7540F-A853-F014-2241-7FF86FB7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81010-A10F-1389-65E3-66A4FBC61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BE08B-2571-A356-D2E8-AAF30EC6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4798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85EBE-D84A-B632-FD54-803A6B98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62AB-7A23-BCE5-13BA-F8A0A3BC7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08AF8-C4FC-B7DA-0DBC-6B44CF703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FF7AD-0C45-2D0F-AC55-4CFBC49B5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0629B-D05F-EB1C-FC4F-DA119E07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B62CB-89C4-E404-1FA8-7AC0C9EF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8083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6186-6EDC-65B2-C703-D8C2097B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5C742-1F6D-AE55-6B39-DC5EACC18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94B9D-E422-8958-8074-8CED3DAD9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B53A2-674B-BFE9-55FA-CB7E41E99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28F06-7C73-339C-8493-8A902643A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272B43-C4CC-D873-FD45-730CBE7F6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A25A8A-1198-665F-8D4B-8E808357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88E560-5CF2-5E45-D54F-21EC4CBA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0583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100B-CC55-3616-04D3-05D1F3979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2C95D-D690-7950-6525-F728185F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489C9-0BBE-D2E6-060C-15FC4100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A9646-8D7C-2184-4F68-AC364443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9515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A902B5-CF7E-B32C-B4C4-8D49A7C21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1106A2-A63E-61A6-76E7-9F82F2A8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1405F-150A-533A-1896-CDDC4349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5691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A057-68C6-CF30-96E1-21392645B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47E7F-3EE8-A525-2041-A7C0F5DE5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65BB5-67E9-E354-2AC1-0F6378F14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7D638-4CDA-03A9-D67A-17AC70BC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CD1-4839-08DB-48BE-ED1AC418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A3461-3B6D-F5A7-F2FD-6E8081F2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16562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8345-90F4-F79C-472F-B6B671273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25044A-4617-3F55-9502-8C2C513DA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574D8-D6B8-79DF-90BA-C010451A9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0BCDA-D0DB-96FD-7A59-004B452C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2587F-B8AD-25C3-8D5D-0BA9E884D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C3994-1B97-92FF-15FC-E3BC3DEA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35207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30A65-4C06-F2FC-4960-5DF876B4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0466D-BA2A-2C11-4D8C-6DE6BD68B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675CE-533A-D4EA-B136-1E6ECA46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4F223-48E1-C03D-EFE9-DC11D5FC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03CD3-E4E4-80B0-C7B9-B6729064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19288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6244A-363C-8C06-DA1C-242FE169B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24EEE-00F7-A08A-E8D5-0C5BE2D57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2D80D-9E19-6F15-56B3-E5F9872E5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2CB27-3B96-31DD-B69D-9CEE32F04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A7A48-8F9F-F2CB-AFCD-3AD0BEEC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1392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FB724-C5B4-B19A-577B-117FBC3A6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042F2-C79C-1177-C14C-A76895A53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E4D74-B546-0556-6CBE-9CC94AA5F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C5E77-4A84-4606-84E4-8F9F23F60D23}" type="datetimeFigureOut">
              <a:rPr lang="en-CH" smtClean="0"/>
              <a:t>19.03.2026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FFBC9-8683-F9D9-7E75-E1ABD8397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EBB20-3B81-7750-3D18-8E3F04635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62D0A9-C795-4FF4-9CCA-8AB81474F1E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1389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45B7-60C0-90CF-D183-3840CF6A0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/>
          <a:lstStyle/>
          <a:p>
            <a:r>
              <a:rPr lang="de-CH"/>
              <a:t>Cost </a:t>
            </a:r>
            <a:r>
              <a:rPr lang="en-CH"/>
              <a:t>C</a:t>
            </a:r>
            <a:r>
              <a:rPr lang="de-CH"/>
              <a:t>ontrol </a:t>
            </a:r>
            <a:r>
              <a:rPr lang="en-CH"/>
              <a:t>C</a:t>
            </a:r>
            <a:r>
              <a:rPr lang="de-CH"/>
              <a:t>omponents 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57EBA-D983-9E80-14E6-DD07E0E5D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sz="3600" dirty="0"/>
              <a:t>IPA 2026</a:t>
            </a:r>
          </a:p>
          <a:p>
            <a:endParaRPr lang="en-CH" dirty="0"/>
          </a:p>
          <a:p>
            <a:r>
              <a:rPr lang="en-CH" dirty="0"/>
              <a:t>Josiah Spilker</a:t>
            </a:r>
          </a:p>
        </p:txBody>
      </p:sp>
      <p:pic>
        <p:nvPicPr>
          <p:cNvPr id="11" name="Picture 10" descr="Godiz AG,&#10;&#10;AI-generated content may be incorrect.">
            <a:extLst>
              <a:ext uri="{FF2B5EF4-FFF2-40B4-BE49-F238E27FC236}">
                <a16:creationId xmlns:a16="http://schemas.microsoft.com/office/drawing/2014/main" id="{99DA5002-47E1-6983-01F9-474C9EF85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502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A5D7-B309-F578-F664-FC0A9070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7309" y="166255"/>
            <a:ext cx="12829309" cy="1976581"/>
          </a:xfrm>
        </p:spPr>
        <p:txBody>
          <a:bodyPr>
            <a:normAutofit/>
          </a:bodyPr>
          <a:lstStyle/>
          <a:p>
            <a:pPr algn="ctr"/>
            <a:r>
              <a:rPr lang="en-CH" sz="4800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E5BFF-7EB4-0376-6656-B966A2B9A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763" y="1902691"/>
            <a:ext cx="3574473" cy="4789054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CH" sz="3200" dirty="0"/>
              <a:t>Overview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CH" sz="3200" dirty="0"/>
              <a:t>Process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de-CH" sz="3200" dirty="0"/>
              <a:t>Implementation</a:t>
            </a:r>
            <a:endParaRPr lang="en-CH" sz="32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CH" sz="3200" dirty="0"/>
              <a:t>Testing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CH" sz="3200" dirty="0"/>
              <a:t>Results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CH" sz="3200" dirty="0"/>
              <a:t>Demo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CH" sz="3200" dirty="0"/>
              <a:t>Review</a:t>
            </a:r>
          </a:p>
        </p:txBody>
      </p:sp>
      <p:pic>
        <p:nvPicPr>
          <p:cNvPr id="5" name="Picture 4" descr="Godiz AG,&#10;&#10;AI-generated content may be incorrect.">
            <a:extLst>
              <a:ext uri="{FF2B5EF4-FFF2-40B4-BE49-F238E27FC236}">
                <a16:creationId xmlns:a16="http://schemas.microsoft.com/office/drawing/2014/main" id="{0502FC01-C952-06EB-B4FE-257DACAA0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835" y="328362"/>
            <a:ext cx="3725037" cy="70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04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C809E-ABD7-AA5E-188D-24CFCD79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CF28-BCE7-C430-8956-3C7C3E4A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227" y="223477"/>
            <a:ext cx="7289800" cy="1325563"/>
          </a:xfrm>
        </p:spPr>
        <p:txBody>
          <a:bodyPr>
            <a:normAutofit/>
          </a:bodyPr>
          <a:lstStyle/>
          <a:p>
            <a:pPr algn="ctr"/>
            <a:r>
              <a:rPr lang="en-CH" sz="5000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924AC-C51D-355E-EC5F-089BEA79F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2309"/>
            <a:ext cx="4786745" cy="3662363"/>
          </a:xfrm>
        </p:spPr>
        <p:txBody>
          <a:bodyPr/>
          <a:lstStyle/>
          <a:p>
            <a:r>
              <a:rPr lang="en-CH" dirty="0"/>
              <a:t>Manual Budget &amp; Expense Creation</a:t>
            </a:r>
          </a:p>
          <a:p>
            <a:r>
              <a:rPr lang="en-CH" dirty="0"/>
              <a:t>Lack of Clarity &amp; Overview</a:t>
            </a:r>
          </a:p>
          <a:p>
            <a:r>
              <a:rPr lang="en-CH" dirty="0"/>
              <a:t>No Tracking</a:t>
            </a:r>
          </a:p>
          <a:p>
            <a:endParaRPr lang="en-CH" dirty="0"/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29527746-4F07-35E5-FE3D-FD77B9FC9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09A103-9C12-104D-48F4-5C7645B65EDC}"/>
              </a:ext>
            </a:extLst>
          </p:cNvPr>
          <p:cNvSpPr txBox="1"/>
          <p:nvPr/>
        </p:nvSpPr>
        <p:spPr>
          <a:xfrm>
            <a:off x="838200" y="1690688"/>
            <a:ext cx="2948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200" dirty="0"/>
              <a:t>Initial Situation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F93D4-901C-A165-3B38-850DE328EAFE}"/>
              </a:ext>
            </a:extLst>
          </p:cNvPr>
          <p:cNvSpPr txBox="1"/>
          <p:nvPr/>
        </p:nvSpPr>
        <p:spPr>
          <a:xfrm>
            <a:off x="5996709" y="1682463"/>
            <a:ext cx="2948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600" dirty="0"/>
              <a:t>Goal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8D4FF6-3ACD-9731-B1EA-9626CBCCF937}"/>
              </a:ext>
            </a:extLst>
          </p:cNvPr>
          <p:cNvSpPr txBox="1">
            <a:spLocks/>
          </p:cNvSpPr>
          <p:nvPr/>
        </p:nvSpPr>
        <p:spPr>
          <a:xfrm>
            <a:off x="5996708" y="2542308"/>
            <a:ext cx="5170055" cy="366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H" dirty="0"/>
              <a:t>Record Budgets &amp; Expenses through forms</a:t>
            </a:r>
          </a:p>
          <a:p>
            <a:r>
              <a:rPr lang="en-CH" dirty="0"/>
              <a:t>visual indicators</a:t>
            </a:r>
          </a:p>
          <a:p>
            <a:r>
              <a:rPr lang="en-CH" dirty="0"/>
              <a:t>Automatic budget monitoring</a:t>
            </a:r>
          </a:p>
        </p:txBody>
      </p:sp>
    </p:spTree>
    <p:extLst>
      <p:ext uri="{BB962C8B-B14F-4D97-AF65-F5344CB8AC3E}">
        <p14:creationId xmlns:p14="http://schemas.microsoft.com/office/powerpoint/2010/main" val="257592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B898-8CBB-85AD-A112-86306712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EEC1-6692-0CD0-CB82-21984030C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sz="5000" dirty="0"/>
              <a:t>Process</a:t>
            </a:r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9B8CCB7A-A4E8-E58C-17B3-F699821FD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6AFFA7-7BAF-D689-F467-4886E1C1E07A}"/>
              </a:ext>
            </a:extLst>
          </p:cNvPr>
          <p:cNvSpPr txBox="1"/>
          <p:nvPr/>
        </p:nvSpPr>
        <p:spPr>
          <a:xfrm>
            <a:off x="838200" y="1571625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200" dirty="0"/>
              <a:t>IPERKA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12F7445-E10C-1763-CFAA-55063342A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8863"/>
            <a:ext cx="6143625" cy="3848100"/>
          </a:xfrm>
        </p:spPr>
        <p:txBody>
          <a:bodyPr/>
          <a:lstStyle/>
          <a:p>
            <a:r>
              <a:rPr lang="en-CH" dirty="0"/>
              <a:t>Use of IPERKA throughout</a:t>
            </a:r>
          </a:p>
          <a:p>
            <a:r>
              <a:rPr lang="en-CH" dirty="0"/>
              <a:t>Required by specifications</a:t>
            </a:r>
          </a:p>
          <a:p>
            <a:r>
              <a:rPr lang="en-CH" dirty="0"/>
              <a:t>Waterfall ap</a:t>
            </a:r>
            <a:r>
              <a:rPr lang="de-CH" dirty="0"/>
              <a:t>p</a:t>
            </a:r>
            <a:r>
              <a:rPr lang="en-CH" dirty="0"/>
              <a:t>roach</a:t>
            </a:r>
          </a:p>
          <a:p>
            <a:endParaRPr lang="en-CH" dirty="0"/>
          </a:p>
          <a:p>
            <a:endParaRPr lang="en-CH" dirty="0"/>
          </a:p>
          <a:p>
            <a:endParaRPr lang="en-CH" dirty="0"/>
          </a:p>
        </p:txBody>
      </p:sp>
      <p:pic>
        <p:nvPicPr>
          <p:cNvPr id="19" name="Picture 18" descr="The diagram represents a decision-making process with the steps: Plan, Decide, Realise, Control, and Evaluate.&#10;&#10;AI-generated content may be incorrect.">
            <a:extLst>
              <a:ext uri="{FF2B5EF4-FFF2-40B4-BE49-F238E27FC236}">
                <a16:creationId xmlns:a16="http://schemas.microsoft.com/office/drawing/2014/main" id="{DFAC6AD7-105A-BD7A-5AA2-2F0253ACA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402" y="1690688"/>
            <a:ext cx="5146398" cy="371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1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57B69-67F0-6B35-0534-A1755D293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5148-AB04-D744-5878-63D404DE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sz="5400" dirty="0"/>
              <a:t>Timeline</a:t>
            </a:r>
            <a:endParaRPr lang="en-CH" sz="5000" dirty="0"/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9551B9F8-05A3-490D-D005-CDACFFC3A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78C0CC-DB55-02ED-14C4-BCB09A8EB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66" y="1869275"/>
            <a:ext cx="11300067" cy="327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33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8725-4B9E-B031-B8A2-911DD150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9BA2-DC62-CB95-3E9F-8E15B7DC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5400" dirty="0"/>
              <a:t>Implementation</a:t>
            </a:r>
            <a:endParaRPr lang="en-CH" sz="5000" dirty="0"/>
          </a:p>
        </p:txBody>
      </p:sp>
      <p:pic>
        <p:nvPicPr>
          <p:cNvPr id="7" name="Content Placeholder 6" descr="The diagram illustrates a JSP (JavaServer Pages) budget management system with various fields such as budget ID, expense details, categories, payment methods, and status codes, along with calculated fields and option sets.&#10;&#10;AI-generated content may be incorrect.">
            <a:extLst>
              <a:ext uri="{FF2B5EF4-FFF2-40B4-BE49-F238E27FC236}">
                <a16:creationId xmlns:a16="http://schemas.microsoft.com/office/drawing/2014/main" id="{081462DE-106B-EB87-600E-1CC84D162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553" y="1571625"/>
            <a:ext cx="6478893" cy="4730752"/>
          </a:xfrm>
          <a:prstGeom prst="rect">
            <a:avLst/>
          </a:prstGeom>
        </p:spPr>
      </p:pic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183C4312-9183-61E6-1578-0C667F16FA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E2FE06-A49C-2C87-E4A2-070C7D6A59A3}"/>
              </a:ext>
            </a:extLst>
          </p:cNvPr>
          <p:cNvSpPr txBox="1"/>
          <p:nvPr/>
        </p:nvSpPr>
        <p:spPr>
          <a:xfrm>
            <a:off x="838200" y="1571625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200" dirty="0"/>
              <a:t>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E100FB-82AF-D7BB-5E2C-363E74687940}"/>
              </a:ext>
            </a:extLst>
          </p:cNvPr>
          <p:cNvSpPr txBox="1"/>
          <p:nvPr/>
        </p:nvSpPr>
        <p:spPr>
          <a:xfrm>
            <a:off x="838200" y="2300000"/>
            <a:ext cx="3067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400" dirty="0"/>
              <a:t>Dataverse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400" dirty="0" err="1"/>
              <a:t>Optionsets</a:t>
            </a:r>
            <a:endParaRPr lang="en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400" dirty="0"/>
              <a:t>Calculated Fields</a:t>
            </a:r>
          </a:p>
        </p:txBody>
      </p:sp>
    </p:spTree>
    <p:extLst>
      <p:ext uri="{BB962C8B-B14F-4D97-AF65-F5344CB8AC3E}">
        <p14:creationId xmlns:p14="http://schemas.microsoft.com/office/powerpoint/2010/main" val="184694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16317-1165-B9A6-F323-2D26B543C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9C00-929A-F61F-6E38-1FBBDD17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5400" dirty="0"/>
              <a:t>Implementation</a:t>
            </a:r>
            <a:endParaRPr lang="en-CH" sz="5000" dirty="0"/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F9FCD63B-B771-FD9B-36EB-4A29A6099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ACAA94-06ED-F27D-E221-C7BD77155650}"/>
              </a:ext>
            </a:extLst>
          </p:cNvPr>
          <p:cNvSpPr txBox="1"/>
          <p:nvPr/>
        </p:nvSpPr>
        <p:spPr>
          <a:xfrm>
            <a:off x="838200" y="1571625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200" dirty="0"/>
              <a:t>Structure</a:t>
            </a:r>
          </a:p>
        </p:txBody>
      </p:sp>
      <p:pic>
        <p:nvPicPr>
          <p:cNvPr id="11" name="Picture 10" descr="The image illustrates a warning flow process where an expense triggers an email alert if budget consumption exceeds 80%.&#10;&#10;AI-generated content may be incorrect.">
            <a:extLst>
              <a:ext uri="{FF2B5EF4-FFF2-40B4-BE49-F238E27FC236}">
                <a16:creationId xmlns:a16="http://schemas.microsoft.com/office/drawing/2014/main" id="{F836C11A-745D-EC42-8ED3-B179C15C7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531" y="1643063"/>
            <a:ext cx="6469314" cy="4572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B452A0-A695-3523-011A-7A60D0F4AD12}"/>
              </a:ext>
            </a:extLst>
          </p:cNvPr>
          <p:cNvSpPr txBox="1"/>
          <p:nvPr/>
        </p:nvSpPr>
        <p:spPr>
          <a:xfrm>
            <a:off x="838199" y="2428875"/>
            <a:ext cx="3908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CH" sz="2800" dirty="0"/>
              <a:t>Warning</a:t>
            </a:r>
            <a:r>
              <a:rPr lang="en-CH" sz="2800" dirty="0"/>
              <a:t> notification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CH" sz="2800" dirty="0"/>
              <a:t>Deactivation</a:t>
            </a:r>
            <a:endParaRPr lang="en-CH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CH" sz="2800" dirty="0"/>
              <a:t>Weekly Report</a:t>
            </a:r>
            <a:endParaRPr lang="en-CH" sz="2800" dirty="0"/>
          </a:p>
        </p:txBody>
      </p:sp>
    </p:spTree>
    <p:extLst>
      <p:ext uri="{BB962C8B-B14F-4D97-AF65-F5344CB8AC3E}">
        <p14:creationId xmlns:p14="http://schemas.microsoft.com/office/powerpoint/2010/main" val="2818071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11CDD-6EAC-0993-D3F9-29A8BA81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640E-9A15-4A44-7FC0-1A3D44785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5400" dirty="0"/>
              <a:t>Implementation</a:t>
            </a:r>
            <a:endParaRPr lang="en-CH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1D9A2-DB90-DA03-F2CB-43BDD27AA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4599"/>
            <a:ext cx="10515600" cy="36623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CH" dirty="0"/>
              <a:t>Current Amount</a:t>
            </a:r>
          </a:p>
          <a:p>
            <a:pPr lvl="1">
              <a:lnSpc>
                <a:spcPct val="100000"/>
              </a:lnSpc>
            </a:pPr>
            <a:r>
              <a:rPr lang="en-CH" dirty="0"/>
              <a:t>Total Amount -current Expenses</a:t>
            </a:r>
          </a:p>
          <a:p>
            <a:pPr>
              <a:lnSpc>
                <a:spcPct val="100000"/>
              </a:lnSpc>
            </a:pPr>
            <a:r>
              <a:rPr lang="en-CH" dirty="0"/>
              <a:t>Current Expenses </a:t>
            </a:r>
          </a:p>
          <a:p>
            <a:pPr lvl="1">
              <a:lnSpc>
                <a:spcPct val="100000"/>
              </a:lnSpc>
            </a:pPr>
            <a:r>
              <a:rPr lang="en-CH" dirty="0"/>
              <a:t>Sum of all related Expenses</a:t>
            </a:r>
          </a:p>
          <a:p>
            <a:pPr>
              <a:lnSpc>
                <a:spcPct val="100000"/>
              </a:lnSpc>
            </a:pPr>
            <a:r>
              <a:rPr lang="en-CH" dirty="0"/>
              <a:t>Warning </a:t>
            </a:r>
            <a:r>
              <a:rPr lang="en-CH" dirty="0" err="1"/>
              <a:t>Threshhold</a:t>
            </a:r>
            <a:endParaRPr lang="en-CH" dirty="0"/>
          </a:p>
          <a:p>
            <a:pPr lvl="1">
              <a:lnSpc>
                <a:spcPct val="100000"/>
              </a:lnSpc>
            </a:pPr>
            <a:r>
              <a:rPr lang="en-CH" dirty="0"/>
              <a:t>80% of Total Amount</a:t>
            </a:r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8D83264B-AC60-CE96-C8AA-9701715FF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D3880A-A6DE-2F48-B49B-895342AB09A0}"/>
              </a:ext>
            </a:extLst>
          </p:cNvPr>
          <p:cNvSpPr txBox="1"/>
          <p:nvPr/>
        </p:nvSpPr>
        <p:spPr>
          <a:xfrm>
            <a:off x="838200" y="1571625"/>
            <a:ext cx="3371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200" dirty="0"/>
              <a:t>Calculated fields</a:t>
            </a:r>
          </a:p>
        </p:txBody>
      </p:sp>
      <p:pic>
        <p:nvPicPr>
          <p:cNvPr id="7" name="Picture 6" descr="The image is a screenshot of a budget management form showing various fields filled with data, including user details, budget categories, amounts, and status indicators.&#10;&#10;AI-generated content may be incorrect.">
            <a:extLst>
              <a:ext uri="{FF2B5EF4-FFF2-40B4-BE49-F238E27FC236}">
                <a16:creationId xmlns:a16="http://schemas.microsoft.com/office/drawing/2014/main" id="{97DD8E3F-1EA7-B2D0-BB1C-F90DA0A8B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00" y="1122363"/>
            <a:ext cx="4047648" cy="554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78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B076-B9A2-063A-6D1D-7426FB06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48BF-F6B4-FA5C-7697-1871E984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5400" dirty="0"/>
              <a:t>Implementation</a:t>
            </a:r>
            <a:endParaRPr lang="en-CH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EB6DF-F096-7EE3-969C-9EC79379E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2931"/>
            <a:ext cx="10515600" cy="36623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CH" dirty="0"/>
              <a:t>Traffic Light system</a:t>
            </a:r>
          </a:p>
          <a:p>
            <a:pPr>
              <a:lnSpc>
                <a:spcPct val="150000"/>
              </a:lnSpc>
            </a:pPr>
            <a:r>
              <a:rPr lang="en-CH" dirty="0"/>
              <a:t>Calculated </a:t>
            </a:r>
            <a:r>
              <a:rPr lang="en-CH" dirty="0" err="1"/>
              <a:t>Optionset</a:t>
            </a:r>
            <a:endParaRPr lang="en-CH" dirty="0"/>
          </a:p>
          <a:p>
            <a:pPr>
              <a:lnSpc>
                <a:spcPct val="150000"/>
              </a:lnSpc>
            </a:pPr>
            <a:r>
              <a:rPr lang="en-CH" dirty="0"/>
              <a:t>Non Modern Function</a:t>
            </a:r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8FA7408A-711E-8487-035E-7E5DC9A22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82DE50-41AD-023F-7BDF-919F542CFFF1}"/>
              </a:ext>
            </a:extLst>
          </p:cNvPr>
          <p:cNvSpPr txBox="1"/>
          <p:nvPr/>
        </p:nvSpPr>
        <p:spPr>
          <a:xfrm>
            <a:off x="838200" y="1571625"/>
            <a:ext cx="26206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3200" dirty="0"/>
              <a:t>Visual Clarity</a:t>
            </a:r>
          </a:p>
        </p:txBody>
      </p:sp>
      <p:pic>
        <p:nvPicPr>
          <p:cNvPr id="7" name="Picture 6" descr="The image displays a budget management interface with three budget names: Budget1 marked as OK, Budget2 marked as Warning, and Budget3 marked as Exceeded.&#10;&#10;AI-generated content may be incorrect.">
            <a:extLst>
              <a:ext uri="{FF2B5EF4-FFF2-40B4-BE49-F238E27FC236}">
                <a16:creationId xmlns:a16="http://schemas.microsoft.com/office/drawing/2014/main" id="{81491F4A-E7DF-37CE-4D55-F30B5B605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022" y="2722931"/>
            <a:ext cx="4869711" cy="25731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56147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1570D-7C54-C2B7-3588-DC5C49FDD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98055-4A7A-2F91-BB03-A4D1B53E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sz="5400" dirty="0"/>
              <a:t>Testing</a:t>
            </a:r>
            <a:endParaRPr lang="en-CH" sz="5000" dirty="0"/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4E5A2173-BA48-D4F8-5E4A-2DBBB5462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CFC875-411A-E223-615D-D87658485CCB}"/>
              </a:ext>
            </a:extLst>
          </p:cNvPr>
          <p:cNvSpPr txBox="1"/>
          <p:nvPr/>
        </p:nvSpPr>
        <p:spPr>
          <a:xfrm>
            <a:off x="949037" y="1810327"/>
            <a:ext cx="4045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Test-driven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19 total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2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Limit Testing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53D9F0D-C447-4F9B-1E94-FA53E5D63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37" y="3270594"/>
            <a:ext cx="82486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54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982A8-4DC3-080E-A0EF-37015DE3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D30B8-AA0D-118F-625C-47C7EF03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sz="5400" dirty="0"/>
              <a:t>Testing</a:t>
            </a:r>
            <a:endParaRPr lang="en-CH" sz="5000" dirty="0"/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D1F67EC9-36CE-48CF-4CB4-4FCB6653A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E6E719-E1DD-4C92-0686-83740E36685F}"/>
              </a:ext>
            </a:extLst>
          </p:cNvPr>
          <p:cNvSpPr txBox="1"/>
          <p:nvPr/>
        </p:nvSpPr>
        <p:spPr>
          <a:xfrm>
            <a:off x="949037" y="1810327"/>
            <a:ext cx="4045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Test-driven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19 total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2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Limit Testing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C648AE-2346-F00E-8AB1-FD030C746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37" y="3270594"/>
            <a:ext cx="82486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14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EF575-83A8-658A-0C63-0CE98C6E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17809-F6E0-B686-71B7-12D2798B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sz="5400" dirty="0"/>
              <a:t>Testing</a:t>
            </a:r>
            <a:endParaRPr lang="en-CH" sz="5000" dirty="0"/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10FCCA89-013B-11C4-E733-B54473668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6462B2-DAA2-BB78-E812-4BDD48E236FE}"/>
              </a:ext>
            </a:extLst>
          </p:cNvPr>
          <p:cNvSpPr txBox="1"/>
          <p:nvPr/>
        </p:nvSpPr>
        <p:spPr>
          <a:xfrm>
            <a:off x="949037" y="1810327"/>
            <a:ext cx="4045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Test-driven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19 total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2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Limit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E11B1-0C15-4C8D-7DB9-DEFC296ED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037" y="3270594"/>
            <a:ext cx="82486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28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3865D-CCE3-A082-13E8-9D8F34F6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391B-C0D4-3064-BC19-B9621685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H" sz="5000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0AB92-EC2A-6EEC-5B8D-701F7D36E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4599"/>
            <a:ext cx="10515600" cy="3662363"/>
          </a:xfrm>
        </p:spPr>
        <p:txBody>
          <a:bodyPr/>
          <a:lstStyle/>
          <a:p>
            <a:endParaRPr lang="en-CH" dirty="0"/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11528277-CA54-0277-F01E-3DA2E623E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51C65E-A9EC-F385-9F79-3350258F949F}"/>
              </a:ext>
            </a:extLst>
          </p:cNvPr>
          <p:cNvSpPr txBox="1"/>
          <p:nvPr/>
        </p:nvSpPr>
        <p:spPr>
          <a:xfrm>
            <a:off x="0" y="141966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3600" dirty="0"/>
              <a:t>Budgets: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0C71DD-3013-473E-2F6E-7997D299D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81" y="2363302"/>
            <a:ext cx="11947438" cy="27981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30257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52087-F197-E708-C7F2-4BE188456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24F24-7413-D100-E5A8-EE205EA2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H" sz="5000" dirty="0"/>
              <a:t>Result</a:t>
            </a:r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5C4A9356-B152-D079-43F1-97020309C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8E8333-D9D6-171B-C11D-A5611603CDE1}"/>
              </a:ext>
            </a:extLst>
          </p:cNvPr>
          <p:cNvSpPr txBox="1"/>
          <p:nvPr/>
        </p:nvSpPr>
        <p:spPr>
          <a:xfrm>
            <a:off x="212436" y="1419409"/>
            <a:ext cx="11979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3600" dirty="0"/>
              <a:t>Expenses: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4A0786-6C13-2685-2651-78D527953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362786"/>
            <a:ext cx="11887200" cy="34491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11941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1A329-62C5-B403-581E-776AF3CD6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055A-100B-B780-5B8E-97FEA31D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7"/>
          </a:xfrm>
        </p:spPr>
        <p:txBody>
          <a:bodyPr>
            <a:normAutofit/>
          </a:bodyPr>
          <a:lstStyle/>
          <a:p>
            <a:pPr algn="ctr"/>
            <a:r>
              <a:rPr lang="en-CH" sz="9600" dirty="0"/>
              <a:t>Demo</a:t>
            </a:r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A034F06C-E996-1836-7E4F-B59424F48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55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20037-B5B2-7F41-4BAB-EB130BF3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73AA2-63A0-580E-C885-4D980B46E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sz="5000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DE41D-5C15-4A03-494F-A94E8D8F9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2575"/>
            <a:ext cx="10515600" cy="4434388"/>
          </a:xfrm>
        </p:spPr>
        <p:txBody>
          <a:bodyPr>
            <a:normAutofit/>
          </a:bodyPr>
          <a:lstStyle/>
          <a:p>
            <a:r>
              <a:rPr lang="de-CH" sz="2400" dirty="0"/>
              <a:t>Overall Success</a:t>
            </a:r>
            <a:endParaRPr lang="en-CH" sz="2400" dirty="0"/>
          </a:p>
          <a:p>
            <a:pPr lvl="1"/>
            <a:r>
              <a:rPr lang="en-CH" sz="2200" dirty="0"/>
              <a:t>C</a:t>
            </a:r>
            <a:r>
              <a:rPr lang="de-CH" sz="2200" dirty="0"/>
              <a:t>ompleted</a:t>
            </a:r>
            <a:r>
              <a:rPr lang="en-CH" sz="2200" dirty="0"/>
              <a:t> + Optional</a:t>
            </a:r>
          </a:p>
          <a:p>
            <a:pPr lvl="1"/>
            <a:r>
              <a:rPr lang="en-CH" sz="2200" dirty="0"/>
              <a:t>Ahead of schedule</a:t>
            </a:r>
          </a:p>
          <a:p>
            <a:r>
              <a:rPr lang="de-CH" sz="2400" dirty="0"/>
              <a:t>Planning Lessons</a:t>
            </a:r>
            <a:endParaRPr lang="en-CH" sz="2400" dirty="0"/>
          </a:p>
          <a:p>
            <a:pPr lvl="1"/>
            <a:r>
              <a:rPr lang="de-CH" sz="2200" dirty="0"/>
              <a:t>Task durations</a:t>
            </a:r>
            <a:endParaRPr lang="en-CH" sz="2200" dirty="0"/>
          </a:p>
          <a:p>
            <a:r>
              <a:rPr lang="de-CH" sz="2400" dirty="0"/>
              <a:t>IPERKA vs. Reality</a:t>
            </a:r>
            <a:endParaRPr lang="en-CH" sz="2400" dirty="0"/>
          </a:p>
          <a:p>
            <a:pPr lvl="1"/>
            <a:r>
              <a:rPr lang="de-CH" sz="2200" dirty="0"/>
              <a:t>Strict</a:t>
            </a:r>
            <a:r>
              <a:rPr lang="en-CH" sz="2200" dirty="0"/>
              <a:t> &lt; Fluid</a:t>
            </a:r>
          </a:p>
          <a:p>
            <a:pPr lvl="1"/>
            <a:r>
              <a:rPr lang="en-CH" sz="2200" dirty="0"/>
              <a:t>Linear &lt; Iterative</a:t>
            </a:r>
          </a:p>
          <a:p>
            <a:r>
              <a:rPr lang="de-CH" sz="2400" dirty="0"/>
              <a:t>Transparency</a:t>
            </a:r>
            <a:endParaRPr lang="en-CH" sz="2400" dirty="0"/>
          </a:p>
          <a:p>
            <a:pPr lvl="1"/>
            <a:endParaRPr lang="en-CH" sz="2200" dirty="0"/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15BFADF6-8163-97B6-5919-D9529C32F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pic>
        <p:nvPicPr>
          <p:cNvPr id="8" name="Picture 7" descr="A yellow, cheerful smiley face with an expressive thumbs up gesture.&#10;&#10;AI-generated content may be incorrect.">
            <a:extLst>
              <a:ext uri="{FF2B5EF4-FFF2-40B4-BE49-F238E27FC236}">
                <a16:creationId xmlns:a16="http://schemas.microsoft.com/office/drawing/2014/main" id="{E0B1328B-1EC0-88CF-9CFD-9FFBCE679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472" y="1690688"/>
            <a:ext cx="40005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36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A611-8C0C-AB21-2926-F8CC81BF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The image depicts a simple staircase made of wooden steps with an arrow pointing upward, symbolizing progress or growth.&#10;&#10;AI-generated content may be incorrect.">
            <a:extLst>
              <a:ext uri="{FF2B5EF4-FFF2-40B4-BE49-F238E27FC236}">
                <a16:creationId xmlns:a16="http://schemas.microsoft.com/office/drawing/2014/main" id="{7564BD77-52CF-9A79-3847-40C9B1DB7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602" y="1742575"/>
            <a:ext cx="6540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3C9B94-9E33-5E0A-486C-043F4638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sz="5000" dirty="0"/>
              <a:t>Future enhancements</a:t>
            </a:r>
          </a:p>
        </p:txBody>
      </p:sp>
      <p:pic>
        <p:nvPicPr>
          <p:cNvPr id="4" name="Picture 3" descr="Godiz AG,&#10;&#10;AI-generated content may be incorrect.">
            <a:extLst>
              <a:ext uri="{FF2B5EF4-FFF2-40B4-BE49-F238E27FC236}">
                <a16:creationId xmlns:a16="http://schemas.microsoft.com/office/drawing/2014/main" id="{E45258D1-2A55-2210-588E-DBAC2DAA5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188" y="417012"/>
            <a:ext cx="3725037" cy="7053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D14EF8-B322-E5D1-2222-B4CA049BD124}"/>
              </a:ext>
            </a:extLst>
          </p:cNvPr>
          <p:cNvSpPr txBox="1"/>
          <p:nvPr/>
        </p:nvSpPr>
        <p:spPr>
          <a:xfrm>
            <a:off x="960385" y="1690688"/>
            <a:ext cx="713360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000" dirty="0"/>
              <a:t>Business Logic</a:t>
            </a:r>
            <a:endParaRPr lang="en-CH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CH" sz="2000" dirty="0"/>
              <a:t>multi-currency</a:t>
            </a:r>
            <a:endParaRPr lang="en-CH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H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000" dirty="0"/>
              <a:t>Notification Refinements</a:t>
            </a:r>
            <a:endParaRPr lang="en-CH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CH" sz="2000" dirty="0"/>
              <a:t>Prevent notification spam </a:t>
            </a:r>
            <a:endParaRPr lang="en-CH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CH" sz="2000" dirty="0"/>
              <a:t>expense approval</a:t>
            </a:r>
            <a:endParaRPr lang="en-CH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H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2000" dirty="0"/>
              <a:t>Deployment</a:t>
            </a:r>
            <a:r>
              <a:rPr lang="en-CH" sz="2000" dirty="0"/>
              <a:t> changes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CH" sz="2000" dirty="0"/>
              <a:t>Remove </a:t>
            </a:r>
            <a:r>
              <a:rPr lang="en-CH" sz="2000" dirty="0"/>
              <a:t>hardcoded URI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H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CH" sz="2000" dirty="0"/>
              <a:t>Security &amp; Workflows</a:t>
            </a:r>
            <a:endParaRPr lang="en-CH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CH" sz="2000" dirty="0"/>
              <a:t>Role-Based Access </a:t>
            </a:r>
            <a:endParaRPr lang="en-CH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CH" sz="2000" dirty="0"/>
              <a:t>expense approval </a:t>
            </a:r>
            <a:endParaRPr lang="en-CH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DF6152-CEC9-3783-E757-85AF14C9B2E0}"/>
              </a:ext>
            </a:extLst>
          </p:cNvPr>
          <p:cNvSpPr txBox="1"/>
          <p:nvPr/>
        </p:nvSpPr>
        <p:spPr>
          <a:xfrm>
            <a:off x="8647712" y="1506022"/>
            <a:ext cx="2706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CH" dirty="0"/>
          </a:p>
          <a:p>
            <a:pPr marL="0" indent="0" algn="ctr"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4959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F99B823B845814E86A3CE4E917BDBFA" ma:contentTypeVersion="10" ma:contentTypeDescription="Ein neues Dokument erstellen." ma:contentTypeScope="" ma:versionID="bf0c259fc4f8a2f8053bd2e5ac0de340">
  <xsd:schema xmlns:xsd="http://www.w3.org/2001/XMLSchema" xmlns:xs="http://www.w3.org/2001/XMLSchema" xmlns:p="http://schemas.microsoft.com/office/2006/metadata/properties" xmlns:ns3="f2eb0f37-67bc-488d-b44f-98043f40ab47" targetNamespace="http://schemas.microsoft.com/office/2006/metadata/properties" ma:root="true" ma:fieldsID="8f986b4a9409392985dcd8dd90b9f32e" ns3:_="">
    <xsd:import namespace="f2eb0f37-67bc-488d-b44f-98043f40ab4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eb0f37-67bc-488d-b44f-98043f40ab4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2eb0f37-67bc-488d-b44f-98043f40ab4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867A77-BF9A-4B9B-828D-178416CA15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eb0f37-67bc-488d-b44f-98043f40ab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05932A-80BD-4204-8A13-521750D29693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  <ds:schemaRef ds:uri="f2eb0f37-67bc-488d-b44f-98043f40ab47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6A919E9-CD7C-41FB-8347-747B5E5DCD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2940</TotalTime>
  <Words>194</Words>
  <Application>Microsoft Office PowerPoint</Application>
  <PresentationFormat>Widescreen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Cost Control Components </vt:lpstr>
      <vt:lpstr>Table of Contents</vt:lpstr>
      <vt:lpstr>Overview</vt:lpstr>
      <vt:lpstr>Process</vt:lpstr>
      <vt:lpstr>Timeline</vt:lpstr>
      <vt:lpstr>Implementation</vt:lpstr>
      <vt:lpstr>Implementation</vt:lpstr>
      <vt:lpstr>Implementation</vt:lpstr>
      <vt:lpstr>Implementation</vt:lpstr>
      <vt:lpstr>Testing</vt:lpstr>
      <vt:lpstr>Testing</vt:lpstr>
      <vt:lpstr>Testing</vt:lpstr>
      <vt:lpstr>Result</vt:lpstr>
      <vt:lpstr>Result</vt:lpstr>
      <vt:lpstr>Demo</vt:lpstr>
      <vt:lpstr>Review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Josiah Spilker</dc:creator>
  <cp:lastModifiedBy>Josiah Spilker</cp:lastModifiedBy>
  <cp:revision>2</cp:revision>
  <dcterms:created xsi:type="dcterms:W3CDTF">2026-03-12T08:47:46Z</dcterms:created>
  <dcterms:modified xsi:type="dcterms:W3CDTF">2026-03-20T09:27:22Z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0x010100FF99B823B845814E86A3CE4E917BDBFA</vt:lpwstr>
  </property>
</Properties>
</file>